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F77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B8B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4572000"/>
            <a:ext cx="3657600" cy="3657600"/>
          </a:xfrm>
          <a:prstGeom prst="ellipse">
            <a:avLst/>
          </a:prstGeom>
          <a:solidFill>
            <a:srgbClr val="5A5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-1828800"/>
            <a:ext cx="4572000" cy="4572000"/>
          </a:xfrm>
          <a:prstGeom prst="ellipse">
            <a:avLst/>
          </a:prstGeom>
          <a:solidFill>
            <a:srgbClr val="A09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01168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Calibri Light"/>
              </a:defRPr>
            </a:pPr>
            <a:r>
              <a:t>EduAI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8B3F0"/>
                </a:solidFill>
                <a:latin typeface="Calibri"/>
              </a:defRPr>
            </a:pPr>
            <a:r>
              <a:t>Apprendre intelligemment grâce à l'IA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3840480"/>
            <a:ext cx="2133295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Équipe de Développement — Projet EduAI</a:t>
            </a:r>
          </a:p>
        </p:txBody>
      </p:sp>
      <p:sp>
        <p:nvSpPr>
          <p:cNvPr id="9" name="Oval 8"/>
          <p:cNvSpPr/>
          <p:nvPr/>
        </p:nvSpPr>
        <p:spPr>
          <a:xfrm>
            <a:off x="5394960" y="4846320"/>
            <a:ext cx="1371600" cy="1371600"/>
          </a:xfrm>
          <a:prstGeom prst="ellipse">
            <a:avLst/>
          </a:prstGeom>
          <a:solidFill>
            <a:srgbClr val="FFFFFF"/>
          </a:solidFill>
          <a:ln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512064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F77DD"/>
                </a:solidFill>
                <a:latin typeface="Calibri"/>
              </a:defRPr>
            </a:pPr>
            <a:r>
              <a:t>🎓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2179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8B3F0"/>
                </a:solidFill>
                <a:latin typeface="Calibri"/>
              </a:defRPr>
            </a:pPr>
            <a:r>
              <a:t>2026 — Présentation Projet Web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Présentation du Projet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474720" cy="4389120"/>
          </a:xfrm>
          <a:prstGeom prst="roundRect">
            <a:avLst/>
          </a:prstGeom>
          <a:solidFill>
            <a:srgbClr val="F5F5FA"/>
          </a:solidFill>
          <a:ln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F77DD"/>
                </a:solidFill>
                <a:latin typeface="Calibri"/>
              </a:defRPr>
            </a:pPr>
            <a:r>
              <a:t>📚 Contexte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3A"/>
                </a:solidFill>
                <a:latin typeface="Calibri"/>
              </a:defRPr>
            </a:pPr>
            <a:r>
              <a:t>L'éducation numérique connaît une transformation majeure avec l'émergence de l'IA générative.</a:t>
            </a:r>
            <a:br/>
            <a:br/>
            <a:r>
              <a:t>Les plateformes d'apprentissage traditionnelles manquent d'interactivité et de personnalisation.</a:t>
            </a:r>
            <a:br/>
            <a:br/>
            <a:r>
              <a:t>EduAI répond à ce besoin croissant d'outils éducatifs intelligents et accessibles.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828800"/>
            <a:ext cx="3474720" cy="4389120"/>
          </a:xfrm>
          <a:prstGeom prst="roundRect">
            <a:avLst/>
          </a:prstGeom>
          <a:solidFill>
            <a:srgbClr val="FFF0F0"/>
          </a:solidFill>
          <a:ln>
            <a:solidFill>
              <a:srgbClr val="FF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20116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C4444"/>
                </a:solidFill>
                <a:latin typeface="Calibri"/>
              </a:defRPr>
            </a:pPr>
            <a:r>
              <a:t>⚠️ Problème Identifié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65176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3A"/>
                </a:solidFill>
                <a:latin typeface="Calibri"/>
              </a:defRPr>
            </a:pPr>
            <a:r>
              <a:t>• Manque d'accompagnement personnalisé pour les étudiants</a:t>
            </a:r>
            <a:br/>
            <a:r>
              <a:t>• Difficulté à suivre la progression académique</a:t>
            </a:r>
            <a:br/>
            <a:r>
              <a:t>• Révisions passives et peu engageantes</a:t>
            </a:r>
            <a:br/>
            <a:r>
              <a:t>• Accès limité à un tuteur disponible 24/7</a:t>
            </a:r>
            <a:br/>
            <a:r>
              <a:t>• Interface souvent complexe et peu intuitive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828800"/>
            <a:ext cx="3474720" cy="4389120"/>
          </a:xfrm>
          <a:prstGeom prst="roundRect">
            <a:avLst/>
          </a:prstGeom>
          <a:solidFill>
            <a:srgbClr val="F0FFF5"/>
          </a:solidFill>
          <a:ln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0116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C759"/>
                </a:solidFill>
                <a:latin typeface="Calibri"/>
              </a:defRPr>
            </a:pPr>
            <a:r>
              <a:t>💡 Solution EduAI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65176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3A"/>
                </a:solidFill>
                <a:latin typeface="Calibri"/>
              </a:defRPr>
            </a:pPr>
            <a:r>
              <a:t>• Plateforme web intelligente et responsive</a:t>
            </a:r>
            <a:br/>
            <a:r>
              <a:t>• Tuteur IA intégré pour assistance instantanée</a:t>
            </a:r>
            <a:br/>
            <a:r>
              <a:t>• Quiz interactifs avec correction automatique</a:t>
            </a:r>
            <a:br/>
            <a:r>
              <a:t>• Tableau de bord de suivi de progression</a:t>
            </a:r>
            <a:br/>
            <a:r>
              <a:t>• Interface moderne et intuitive</a:t>
            </a:r>
            <a:br/>
            <a:r>
              <a:t>• Mode clair/sombre pour le confort visuel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931920" y="3657600"/>
            <a:ext cx="365760" cy="365760"/>
          </a:xfrm>
          <a:prstGeom prst="rightArrow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7680960" y="3657600"/>
            <a:ext cx="365760" cy="365760"/>
          </a:xfrm>
          <a:prstGeom prst="rightArrow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Objectifs du Projet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303520" cy="1828800"/>
          </a:xfrm>
          <a:prstGeom prst="roundRect">
            <a:avLst/>
          </a:prstGeom>
          <a:solidFill>
            <a:srgbClr val="F5F5FA"/>
          </a:solidFill>
          <a:ln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103120"/>
            <a:ext cx="548640" cy="548640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F77DD"/>
                </a:solidFill>
                <a:latin typeface="Calibri"/>
              </a:defRPr>
            </a:pPr>
            <a:r>
              <a:t>🎯 Faciliter l'Apprentissage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688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3A"/>
                </a:solidFill>
                <a:latin typeface="Calibri"/>
              </a:defRPr>
            </a:pPr>
            <a:r>
              <a:t>Rendre l'apprentissage plus accessible et efficace grâce à une interface intuitive et des ressources bien organisées.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03520" cy="1828800"/>
          </a:xfrm>
          <a:prstGeom prst="roundRect">
            <a:avLst/>
          </a:prstGeom>
          <a:solidFill>
            <a:srgbClr val="F5F5FA"/>
          </a:solidFill>
          <a:ln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0" y="2103120"/>
            <a:ext cx="548640" cy="548640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F77DD"/>
                </a:solidFill>
                <a:latin typeface="Calibri"/>
              </a:defRPr>
            </a:pPr>
            <a:r>
              <a:t>🔄 Révisions Interactives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4688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3A"/>
                </a:solidFill>
                <a:latin typeface="Calibri"/>
              </a:defRPr>
            </a:pPr>
            <a:r>
              <a:t>Transformer les révisions en expériences engageantes avec des quiz dynamiques et des retours instantanés.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31920"/>
            <a:ext cx="5303520" cy="1828800"/>
          </a:xfrm>
          <a:prstGeom prst="roundRect">
            <a:avLst/>
          </a:prstGeom>
          <a:solidFill>
            <a:srgbClr val="F5F5FA"/>
          </a:solidFill>
          <a:ln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4206240"/>
            <a:ext cx="548640" cy="548640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114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F77DD"/>
                </a:solidFill>
                <a:latin typeface="Calibri"/>
              </a:defRPr>
            </a:pPr>
            <a:r>
              <a:t>🤖 Tuteur IA Personnel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57200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3A"/>
                </a:solidFill>
                <a:latin typeface="Calibri"/>
              </a:defRPr>
            </a:pPr>
            <a:r>
              <a:t>Offrir un accompagnement intelligent 24/7 capable de répondre aux questions et guider les étudiants.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931920"/>
            <a:ext cx="5303520" cy="1828800"/>
          </a:xfrm>
          <a:prstGeom prst="roundRect">
            <a:avLst/>
          </a:prstGeom>
          <a:solidFill>
            <a:srgbClr val="F5F5FA"/>
          </a:solidFill>
          <a:ln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4206240"/>
            <a:ext cx="548640" cy="548640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4114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F77DD"/>
                </a:solidFill>
                <a:latin typeface="Calibri"/>
              </a:defRPr>
            </a:pPr>
            <a:r>
              <a:t>📊 Suivi de Progression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57200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3A"/>
                </a:solidFill>
                <a:latin typeface="Calibri"/>
              </a:defRPr>
            </a:pPr>
            <a:r>
              <a:t>Permettre un suivi détaillé de la progression académique avec des statistiques et des indicateurs de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Fonctionnalités Principales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011680"/>
            <a:ext cx="640080" cy="640080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F77DD"/>
                </a:solidFill>
                <a:latin typeface="Calibri"/>
              </a:defRPr>
            </a:pPr>
            <a:r>
              <a:t>Tableau de Bord Interactif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3A"/>
                </a:solidFill>
                <a:latin typeface="Calibri"/>
              </a:defRPr>
            </a:pPr>
            <a:r>
              <a:t>Vue d'ensemble personnalisée avec statistiques, cours récents et activités du jour.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8288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89120" y="2011680"/>
            <a:ext cx="640080" cy="640080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057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9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F77DD"/>
                </a:solidFill>
                <a:latin typeface="Calibri"/>
              </a:defRPr>
            </a:pPr>
            <a:r>
              <a:t>Gestion des Cours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6517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3A"/>
                </a:solidFill>
                <a:latin typeface="Calibri"/>
              </a:defRPr>
            </a:pPr>
            <a:r>
              <a:t>Organisation complète des matières, leçons et ressources pédagogiques.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8288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38159" y="2011680"/>
            <a:ext cx="640080" cy="640080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2057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19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F77DD"/>
                </a:solidFill>
                <a:latin typeface="Calibri"/>
              </a:defRPr>
            </a:pPr>
            <a:r>
              <a:t>Tuteur 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9" y="26517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3A"/>
                </a:solidFill>
                <a:latin typeface="Calibri"/>
              </a:defRPr>
            </a:pPr>
            <a:r>
              <a:t>Assistant intelligent pour questions, explications et aide aux devoirs.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" y="4114800"/>
            <a:ext cx="640080" cy="640080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160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F77DD"/>
                </a:solidFill>
                <a:latin typeface="Calibri"/>
              </a:defRPr>
            </a:pPr>
            <a:r>
              <a:t>Quiz Interactifs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548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3A"/>
                </a:solidFill>
                <a:latin typeface="Calibri"/>
              </a:defRPr>
            </a:pPr>
            <a:r>
              <a:t>Évaluations avec score temps réel, correction et explications détaillées.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39319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89120" y="4114800"/>
            <a:ext cx="640080" cy="640080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4160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9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F77DD"/>
                </a:solidFill>
                <a:latin typeface="Calibri"/>
              </a:defRPr>
            </a:pPr>
            <a:r>
              <a:t>Agenda Académique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7548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3A"/>
                </a:solidFill>
                <a:latin typeface="Calibri"/>
              </a:defRPr>
            </a:pPr>
            <a:r>
              <a:t>Planification des cours, examens et échéances avec rappels.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79" y="39319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38159" y="4114800"/>
            <a:ext cx="640080" cy="640080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79" y="4160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19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F77DD"/>
                </a:solidFill>
                <a:latin typeface="Calibri"/>
              </a:defRPr>
            </a:pPr>
            <a:r>
              <a:t>Suivi de Progression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59" y="47548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3A"/>
                </a:solidFill>
                <a:latin typeface="Calibri"/>
              </a:defRPr>
            </a:pPr>
            <a:r>
              <a:t>Graphiques et indicateurs de performance pour chaque matière.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Interface Utilisateur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474720" cy="1828800"/>
          </a:xfrm>
          <a:prstGeom prst="roundRect">
            <a:avLst/>
          </a:prstGeom>
          <a:solidFill>
            <a:srgbClr val="F5F5FA"/>
          </a:solidFill>
          <a:ln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011680"/>
            <a:ext cx="640080" cy="640080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F77DD"/>
                </a:solidFill>
                <a:latin typeface="Calibri"/>
              </a:defRPr>
            </a:pPr>
            <a:r>
              <a:t>Design Responsive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3A"/>
                </a:solidFill>
                <a:latin typeface="Calibri"/>
              </a:defRPr>
            </a:pPr>
            <a:r>
              <a:t>Adaptation parfaite sur desktop, tablette et mobile avec une expérience utilisateur fluide.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828800"/>
            <a:ext cx="3474720" cy="1828800"/>
          </a:xfrm>
          <a:prstGeom prst="roundRect">
            <a:avLst/>
          </a:prstGeom>
          <a:solidFill>
            <a:srgbClr val="F5F5FA"/>
          </a:solidFill>
          <a:ln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89120" y="2011680"/>
            <a:ext cx="640080" cy="640080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057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9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F77DD"/>
                </a:solidFill>
                <a:latin typeface="Calibri"/>
              </a:defRPr>
            </a:pPr>
            <a:r>
              <a:t>Mode Clair/Sombre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6517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3A"/>
                </a:solidFill>
                <a:latin typeface="Calibri"/>
              </a:defRPr>
            </a:pPr>
            <a:r>
              <a:t>Basculement instantané entre thème clair et sombre pour le confort visuel.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828800"/>
            <a:ext cx="3474720" cy="1828800"/>
          </a:xfrm>
          <a:prstGeom prst="roundRect">
            <a:avLst/>
          </a:prstGeom>
          <a:solidFill>
            <a:srgbClr val="F5F5FA"/>
          </a:solidFill>
          <a:ln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38159" y="2011680"/>
            <a:ext cx="640080" cy="640080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2057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19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F77DD"/>
                </a:solidFill>
                <a:latin typeface="Calibri"/>
              </a:defRPr>
            </a:pPr>
            <a:r>
              <a:t>Navigation Latérale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9" y="26517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3A"/>
                </a:solidFill>
                <a:latin typeface="Calibri"/>
              </a:defRPr>
            </a:pPr>
            <a:r>
              <a:t>Menu latéral intuitif avec accès rapide à toutes les sections de la plateforme.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3474720" cy="1828800"/>
          </a:xfrm>
          <a:prstGeom prst="roundRect">
            <a:avLst/>
          </a:prstGeom>
          <a:solidFill>
            <a:srgbClr val="F5F5FA"/>
          </a:solidFill>
          <a:ln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" y="4114800"/>
            <a:ext cx="640080" cy="640080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160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F77DD"/>
                </a:solidFill>
                <a:latin typeface="Calibri"/>
              </a:defRPr>
            </a:pPr>
            <a:r>
              <a:t>Cartes Statistiques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548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3A"/>
                </a:solidFill>
                <a:latin typeface="Calibri"/>
              </a:defRPr>
            </a:pPr>
            <a:r>
              <a:t>Visualisation des données avec graphiques et indicateurs de performance.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3931920"/>
            <a:ext cx="3474720" cy="1828800"/>
          </a:xfrm>
          <a:prstGeom prst="roundRect">
            <a:avLst/>
          </a:prstGeom>
          <a:solidFill>
            <a:srgbClr val="F5F5FA"/>
          </a:solidFill>
          <a:ln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89120" y="4114800"/>
            <a:ext cx="640080" cy="640080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4160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9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F77DD"/>
                </a:solidFill>
                <a:latin typeface="Calibri"/>
              </a:defRPr>
            </a:pPr>
            <a:r>
              <a:t>Animations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7548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3A"/>
                </a:solidFill>
                <a:latin typeface="Calibri"/>
              </a:defRPr>
            </a:pPr>
            <a:r>
              <a:t>Transitions fluides et micro-interactions pour une expérience moderne.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79" y="3931920"/>
            <a:ext cx="3474720" cy="1828800"/>
          </a:xfrm>
          <a:prstGeom prst="roundRect">
            <a:avLst/>
          </a:prstGeom>
          <a:solidFill>
            <a:srgbClr val="F5F5FA"/>
          </a:solidFill>
          <a:ln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38159" y="4114800"/>
            <a:ext cx="640080" cy="640080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79" y="4160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19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F77DD"/>
                </a:solidFill>
                <a:latin typeface="Calibri"/>
              </a:defRPr>
            </a:pPr>
            <a:r>
              <a:t>Design Système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59" y="47548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3A"/>
                </a:solidFill>
                <a:latin typeface="Calibri"/>
              </a:defRPr>
            </a:pPr>
            <a:r>
              <a:t>Palette cohérente, typographie harmonieuse et composants réutilisables.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Tuteur IA Intégré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6858000" cy="4389120"/>
          </a:xfrm>
          <a:prstGeom prst="roundRect">
            <a:avLst/>
          </a:prstGeom>
          <a:solidFill>
            <a:srgbClr val="F5F5FA"/>
          </a:solidFill>
          <a:ln>
            <a:solidFill>
              <a:srgbClr val="7F7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F77DD"/>
                </a:solidFill>
                <a:latin typeface="Calibri"/>
              </a:defRPr>
            </a:pPr>
            <a:r>
              <a:t>🤖 Fonctionnalités du Tuteur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3A"/>
                </a:solidFill>
                <a:latin typeface="Calibri"/>
              </a:defRPr>
            </a:pPr>
            <a:r>
              <a:t>• Réponses automatiques aux questions des étudiants</a:t>
            </a:r>
            <a:br/>
            <a:r>
              <a:t>• Aides pédagogiques personnalisées selon le niveau</a:t>
            </a:r>
            <a:br/>
            <a:r>
              <a:t>• Explications détaillées avec exemples concrets</a:t>
            </a:r>
            <a:br/>
            <a:r>
              <a:t>• Disponibilité 24/7 sans interruption</a:t>
            </a:r>
            <a:br/>
            <a:r>
              <a:t>• Interface conversationnelle intuitive</a:t>
            </a:r>
            <a:br/>
            <a:r>
              <a:t>• Historique des conversations sauvegardé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828800"/>
            <a:ext cx="3931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20116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F77DD"/>
                </a:solidFill>
                <a:latin typeface="Calibri"/>
              </a:defRPr>
            </a:pPr>
            <a:r>
              <a:t>📚 Matières Prises en Charge</a:t>
            </a:r>
          </a:p>
        </p:txBody>
      </p:sp>
      <p:sp>
        <p:nvSpPr>
          <p:cNvPr id="9" name="Oval 8"/>
          <p:cNvSpPr/>
          <p:nvPr/>
        </p:nvSpPr>
        <p:spPr>
          <a:xfrm>
            <a:off x="7772400" y="2651760"/>
            <a:ext cx="365760" cy="365760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3A"/>
                </a:solidFill>
                <a:latin typeface="Calibri"/>
              </a:defRPr>
            </a:pPr>
            <a:r>
              <a:t>Mathématiques — Algèbre, géométrie, calcul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3337560"/>
            <a:ext cx="365760" cy="365760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3337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3A"/>
                </a:solidFill>
                <a:latin typeface="Calibri"/>
              </a:defRPr>
            </a:pPr>
            <a:r>
              <a:t>Chimie — Réactions, molécules, équations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0" y="4023360"/>
            <a:ext cx="365760" cy="365760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3A"/>
                </a:solidFill>
                <a:latin typeface="Calibri"/>
              </a:defRPr>
            </a:pPr>
            <a:r>
              <a:t>Histoire — Événements, dates, analyses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0" y="4709160"/>
            <a:ext cx="365760" cy="365760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709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3A"/>
                </a:solidFill>
                <a:latin typeface="Calibri"/>
              </a:defRPr>
            </a:pPr>
            <a:r>
              <a:t>Biologie — Cellules, génétique, écosystèmes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0" y="5394960"/>
            <a:ext cx="365760" cy="365760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5394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3A"/>
                </a:solidFill>
                <a:latin typeface="Calibri"/>
              </a:defRPr>
            </a:pPr>
            <a:r>
              <a:t>Anglais — Grammaire, vocabulaire, expression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Quiz Interactifs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303520" cy="1828800"/>
          </a:xfrm>
          <a:prstGeom prst="roundRect">
            <a:avLst/>
          </a:prstGeom>
          <a:solidFill>
            <a:srgbClr val="F5F5FA"/>
          </a:solidFill>
          <a:ln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011680"/>
            <a:ext cx="640080" cy="640080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F77DD"/>
                </a:solidFill>
                <a:latin typeface="Calibri"/>
              </a:defRPr>
            </a:pPr>
            <a:r>
              <a:t>Système de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3A"/>
                </a:solidFill>
                <a:latin typeface="Calibri"/>
              </a:defRPr>
            </a:pPr>
            <a:r>
              <a:t>Points attribués en temps réel avec barre de progression visuelle et classement des meilleurs scores.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1828800"/>
          </a:xfrm>
          <a:prstGeom prst="roundRect">
            <a:avLst/>
          </a:prstGeom>
          <a:solidFill>
            <a:srgbClr val="F5F5FA"/>
          </a:solidFill>
          <a:ln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2011680"/>
            <a:ext cx="640080" cy="640080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057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F77DD"/>
                </a:solidFill>
                <a:latin typeface="Calibri"/>
              </a:defRPr>
            </a:pPr>
            <a:r>
              <a:t>Correction Automatique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5176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3A"/>
                </a:solidFill>
                <a:latin typeface="Calibri"/>
              </a:defRPr>
            </a:pPr>
            <a:r>
              <a:t>Vérification instantanée des réponses avec indication immédiate du résultat (correct/incorrect).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5303520" cy="1828800"/>
          </a:xfrm>
          <a:prstGeom prst="roundRect">
            <a:avLst/>
          </a:prstGeom>
          <a:solidFill>
            <a:srgbClr val="F5F5FA"/>
          </a:solidFill>
          <a:ln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4114800"/>
            <a:ext cx="640080" cy="640080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160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114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F77DD"/>
                </a:solidFill>
                <a:latin typeface="Calibri"/>
              </a:defRPr>
            </a:pPr>
            <a:r>
              <a:t>Explications Pédagogiques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548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3A"/>
                </a:solidFill>
                <a:latin typeface="Calibri"/>
              </a:defRPr>
            </a:pPr>
            <a:r>
              <a:t>Retours détaillés pour chaque question avec explications des concepts et liens vers les ressources.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31920"/>
            <a:ext cx="5303520" cy="1828800"/>
          </a:xfrm>
          <a:prstGeom prst="roundRect">
            <a:avLst/>
          </a:prstGeom>
          <a:solidFill>
            <a:srgbClr val="F5F5FA"/>
          </a:solidFill>
          <a:ln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0" y="4114800"/>
            <a:ext cx="640080" cy="640080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160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114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F77DD"/>
                </a:solidFill>
                <a:latin typeface="Calibri"/>
              </a:defRPr>
            </a:pPr>
            <a:r>
              <a:t>Réinitialisation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7548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3A"/>
                </a:solidFill>
                <a:latin typeface="Calibri"/>
              </a:defRPr>
            </a:pPr>
            <a:r>
              <a:t>Possibilité de recommencer les quiz pour s'entraîner et améliorer ses résultats progressivement.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Technologies Utilisées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560320" cy="1554480"/>
          </a:xfrm>
          <a:prstGeom prst="roundRect">
            <a:avLst/>
          </a:prstGeom>
          <a:solidFill>
            <a:srgbClr val="F5F5FA"/>
          </a:solidFill>
          <a:ln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F77DD"/>
                </a:solidFill>
                <a:latin typeface="Calibri"/>
              </a:defRPr>
            </a:pPr>
            <a:r>
              <a:t>HTML5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80"/>
                </a:solidFill>
                <a:latin typeface="Calibri"/>
              </a:defRPr>
            </a:pPr>
            <a:r>
              <a:t>Structure sémantique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3A"/>
                </a:solidFill>
                <a:latin typeface="Calibri"/>
              </a:defRPr>
            </a:pPr>
            <a:r>
              <a:t>Éléments modernes, accessibilité, sémantique web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828800"/>
            <a:ext cx="2560320" cy="1554480"/>
          </a:xfrm>
          <a:prstGeom prst="roundRect">
            <a:avLst/>
          </a:prstGeom>
          <a:solidFill>
            <a:srgbClr val="F5F5FA"/>
          </a:solidFill>
          <a:ln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F77DD"/>
                </a:solidFill>
                <a:latin typeface="Calibri"/>
              </a:defRPr>
            </a:pPr>
            <a:r>
              <a:t>CSS3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2860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80"/>
                </a:solidFill>
                <a:latin typeface="Calibri"/>
              </a:defRPr>
            </a:pPr>
            <a:r>
              <a:t>Styles avancés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5603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3A"/>
                </a:solidFill>
                <a:latin typeface="Calibri"/>
              </a:defRPr>
            </a:pPr>
            <a:r>
              <a:t>Flexbox, Grid, animations, transitions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828800"/>
            <a:ext cx="2560320" cy="1554480"/>
          </a:xfrm>
          <a:prstGeom prst="roundRect">
            <a:avLst/>
          </a:prstGeom>
          <a:solidFill>
            <a:srgbClr val="F5F5FA"/>
          </a:solidFill>
          <a:ln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F77DD"/>
                </a:solidFill>
                <a:latin typeface="Calibri"/>
              </a:defRPr>
            </a:pPr>
            <a:r>
              <a:t>JavaScript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860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80"/>
                </a:solidFill>
                <a:latin typeface="Calibri"/>
              </a:defRPr>
            </a:pPr>
            <a:r>
              <a:t>Logique interactive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5603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3A"/>
                </a:solidFill>
                <a:latin typeface="Calibri"/>
              </a:defRPr>
            </a:pPr>
            <a:r>
              <a:t>Vanilla JS, DOM manipulation, events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1828800"/>
            <a:ext cx="2560320" cy="1554480"/>
          </a:xfrm>
          <a:prstGeom prst="roundRect">
            <a:avLst/>
          </a:prstGeom>
          <a:solidFill>
            <a:srgbClr val="F5F5FA"/>
          </a:solidFill>
          <a:ln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F77DD"/>
                </a:solidFill>
                <a:latin typeface="Calibri"/>
              </a:defRPr>
            </a:pPr>
            <a:r>
              <a:t>Variables CSS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22860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80"/>
                </a:solidFill>
                <a:latin typeface="Calibri"/>
              </a:defRPr>
            </a:pPr>
            <a:r>
              <a:t>Thème dynamique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5603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3A"/>
                </a:solidFill>
                <a:latin typeface="Calibri"/>
              </a:defRPr>
            </a:pPr>
            <a:r>
              <a:t>Mode clair/sombre, personnalisation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57600"/>
            <a:ext cx="2560320" cy="1554480"/>
          </a:xfrm>
          <a:prstGeom prst="roundRect">
            <a:avLst/>
          </a:prstGeom>
          <a:solidFill>
            <a:srgbClr val="F5F5FA"/>
          </a:solidFill>
          <a:ln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4903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F77DD"/>
                </a:solidFill>
                <a:latin typeface="Calibri"/>
              </a:defRPr>
            </a:pPr>
            <a:r>
              <a:t>DOM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14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80"/>
                </a:solidFill>
                <a:latin typeface="Calibri"/>
              </a:defRPr>
            </a:pPr>
            <a:r>
              <a:t>Manipulation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3891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3A"/>
                </a:solidFill>
                <a:latin typeface="Calibri"/>
              </a:defRPr>
            </a:pPr>
            <a:r>
              <a:t>Création dynamique, events, sélecteurs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0" y="3657600"/>
            <a:ext cx="2560320" cy="1554480"/>
          </a:xfrm>
          <a:prstGeom prst="roundRect">
            <a:avLst/>
          </a:prstGeom>
          <a:solidFill>
            <a:srgbClr val="F5F5FA"/>
          </a:solidFill>
          <a:ln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0" y="374903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F77DD"/>
                </a:solidFill>
                <a:latin typeface="Calibri"/>
              </a:defRPr>
            </a:pPr>
            <a:r>
              <a:t>Responsive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4114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80"/>
                </a:solidFill>
                <a:latin typeface="Calibri"/>
              </a:defRPr>
            </a:pPr>
            <a:r>
              <a:t>Multi-device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43891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3A"/>
                </a:solidFill>
                <a:latin typeface="Calibri"/>
              </a:defRPr>
            </a:pPr>
            <a:r>
              <a:t>Media queries, mobile-first, adaptatif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3657600"/>
            <a:ext cx="2560320" cy="1554480"/>
          </a:xfrm>
          <a:prstGeom prst="roundRect">
            <a:avLst/>
          </a:prstGeom>
          <a:solidFill>
            <a:srgbClr val="F5F5FA"/>
          </a:solidFill>
          <a:ln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374903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F77DD"/>
                </a:solidFill>
                <a:latin typeface="Calibri"/>
              </a:defRPr>
            </a:pPr>
            <a:r>
              <a:t>Tabler Icons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4114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80"/>
                </a:solidFill>
                <a:latin typeface="Calibri"/>
              </a:defRPr>
            </a:pPr>
            <a:r>
              <a:t>Icônes vectorielles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43891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3A"/>
                </a:solidFill>
                <a:latin typeface="Calibri"/>
              </a:defRPr>
            </a:pPr>
            <a:r>
              <a:t>Bibliothèque d'icônes modernes et légères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0" y="3657600"/>
            <a:ext cx="2560320" cy="1554480"/>
          </a:xfrm>
          <a:prstGeom prst="roundRect">
            <a:avLst/>
          </a:prstGeom>
          <a:solidFill>
            <a:srgbClr val="F5F5FA"/>
          </a:solidFill>
          <a:ln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0" y="374903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F77DD"/>
                </a:solidFill>
                <a:latin typeface="Calibri"/>
              </a:defRPr>
            </a:pPr>
            <a:r>
              <a:t>Git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4114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80"/>
                </a:solidFill>
                <a:latin typeface="Calibri"/>
              </a:defRPr>
            </a:pPr>
            <a:r>
              <a:t>Versioning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3891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3A"/>
                </a:solidFill>
                <a:latin typeface="Calibri"/>
              </a:defRPr>
            </a:pPr>
            <a:r>
              <a:t>Contrôle de version, collaboration, branches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Architecture du Projet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303520" cy="1828800"/>
          </a:xfrm>
          <a:prstGeom prst="roundRect">
            <a:avLst/>
          </a:prstGeom>
          <a:solidFill>
            <a:srgbClr val="F5F5FA"/>
          </a:solidFill>
          <a:ln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011680"/>
            <a:ext cx="640080" cy="640080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F77DD"/>
                </a:solidFill>
                <a:latin typeface="Calibri"/>
              </a:defRPr>
            </a:pPr>
            <a:r>
              <a:t>Structure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3A"/>
                </a:solidFill>
                <a:latin typeface="Calibri"/>
              </a:defRPr>
            </a:pPr>
            <a:r>
              <a:t>HTML5 sémantique, composants modulaires, séparation des responsabilités.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1828800"/>
          </a:xfrm>
          <a:prstGeom prst="roundRect">
            <a:avLst/>
          </a:prstGeom>
          <a:solidFill>
            <a:srgbClr val="F5F5FA"/>
          </a:solidFill>
          <a:ln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2011680"/>
            <a:ext cx="640080" cy="640080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057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F77DD"/>
                </a:solidFill>
                <a:latin typeface="Calibri"/>
              </a:defRPr>
            </a:pPr>
            <a:r>
              <a:t>Composants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5176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3A"/>
                </a:solidFill>
                <a:latin typeface="Calibri"/>
              </a:defRPr>
            </a:pPr>
            <a:r>
              <a:t>Cartes, boutons, formulaires, modals, navigation — tous réutilisables.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5303520" cy="1828800"/>
          </a:xfrm>
          <a:prstGeom prst="roundRect">
            <a:avLst/>
          </a:prstGeom>
          <a:solidFill>
            <a:srgbClr val="F5F5FA"/>
          </a:solidFill>
          <a:ln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4114800"/>
            <a:ext cx="640080" cy="640080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160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114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F77DD"/>
                </a:solidFill>
                <a:latin typeface="Calibri"/>
              </a:defRPr>
            </a:pPr>
            <a:r>
              <a:t>Interactions 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548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3A"/>
                </a:solidFill>
                <a:latin typeface="Calibri"/>
              </a:defRPr>
            </a:pPr>
            <a:r>
              <a:t>DOM manipulation, event listeners, state management local, animations.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31920"/>
            <a:ext cx="5303520" cy="1828800"/>
          </a:xfrm>
          <a:prstGeom prst="roundRect">
            <a:avLst/>
          </a:prstGeom>
          <a:solidFill>
            <a:srgbClr val="F5F5FA"/>
          </a:solidFill>
          <a:ln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0" y="4114800"/>
            <a:ext cx="640080" cy="640080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160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114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F77DD"/>
                </a:solidFill>
                <a:latin typeface="Calibri"/>
              </a:defRPr>
            </a:pPr>
            <a:r>
              <a:t>Organisation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7548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3A"/>
                </a:solidFill>
                <a:latin typeface="Calibri"/>
              </a:defRPr>
            </a:pPr>
            <a:r>
              <a:t>Fichiers modulaires, naming convention, commentaires, structure claire.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Défis Rencontrés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303520" cy="1828800"/>
          </a:xfrm>
          <a:prstGeom prst="roundRect">
            <a:avLst/>
          </a:prstGeom>
          <a:solidFill>
            <a:srgbClr val="FFF5F5"/>
          </a:solidFill>
          <a:ln>
            <a:solidFill>
              <a:srgbClr val="FF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011680"/>
            <a:ext cx="640080" cy="640080"/>
          </a:xfrm>
          <a:prstGeom prst="ellipse">
            <a:avLst/>
          </a:prstGeom>
          <a:solidFill>
            <a:srgbClr val="FF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4444"/>
                </a:solidFill>
                <a:latin typeface="Calibri"/>
              </a:defRPr>
            </a:pPr>
            <a:r>
              <a:t>Interface Responsive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3A"/>
                </a:solidFill>
                <a:latin typeface="Calibri"/>
              </a:defRPr>
            </a:pPr>
            <a:r>
              <a:t>Adapter le design pour toutes les tailles d'écran tout en maintenant l'esthétique et la fonctionnalité.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1828800"/>
          </a:xfrm>
          <a:prstGeom prst="roundRect">
            <a:avLst/>
          </a:prstGeom>
          <a:solidFill>
            <a:srgbClr val="FFF5F5"/>
          </a:solidFill>
          <a:ln>
            <a:solidFill>
              <a:srgbClr val="FF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2011680"/>
            <a:ext cx="640080" cy="640080"/>
          </a:xfrm>
          <a:prstGeom prst="ellipse">
            <a:avLst/>
          </a:prstGeom>
          <a:solidFill>
            <a:srgbClr val="FF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057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4444"/>
                </a:solidFill>
                <a:latin typeface="Calibri"/>
              </a:defRPr>
            </a:pPr>
            <a:r>
              <a:t>Gestion Dynamique du DOM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5176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3A"/>
                </a:solidFill>
                <a:latin typeface="Calibri"/>
              </a:defRPr>
            </a:pPr>
            <a:r>
              <a:t>Créer, modifier et supprimer des éléments HTML en temps réel sans framework.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5303520" cy="1828800"/>
          </a:xfrm>
          <a:prstGeom prst="roundRect">
            <a:avLst/>
          </a:prstGeom>
          <a:solidFill>
            <a:srgbClr val="FFF5F5"/>
          </a:solidFill>
          <a:ln>
            <a:solidFill>
              <a:srgbClr val="FF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4114800"/>
            <a:ext cx="640080" cy="640080"/>
          </a:xfrm>
          <a:prstGeom prst="ellipse">
            <a:avLst/>
          </a:prstGeom>
          <a:solidFill>
            <a:srgbClr val="FF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160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114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4444"/>
                </a:solidFill>
                <a:latin typeface="Calibri"/>
              </a:defRPr>
            </a:pPr>
            <a:r>
              <a:t>Simulation Tuteur 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548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3A"/>
                </a:solidFill>
                <a:latin typeface="Calibri"/>
              </a:defRPr>
            </a:pPr>
            <a:r>
              <a:t>Implémenter un système de réponses intelligentes avec logique conditionnelle et bases de connaissances.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31920"/>
            <a:ext cx="5303520" cy="1828800"/>
          </a:xfrm>
          <a:prstGeom prst="roundRect">
            <a:avLst/>
          </a:prstGeom>
          <a:solidFill>
            <a:srgbClr val="FFF5F5"/>
          </a:solidFill>
          <a:ln>
            <a:solidFill>
              <a:srgbClr val="FF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0" y="4114800"/>
            <a:ext cx="640080" cy="640080"/>
          </a:xfrm>
          <a:prstGeom prst="ellipse">
            <a:avLst/>
          </a:prstGeom>
          <a:solidFill>
            <a:srgbClr val="FF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160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114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4444"/>
                </a:solidFill>
                <a:latin typeface="Calibri"/>
              </a:defRPr>
            </a:pPr>
            <a:r>
              <a:t>Expérience Utilisateur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7548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3A"/>
                </a:solidFill>
                <a:latin typeface="Calibri"/>
              </a:defRPr>
            </a:pPr>
            <a:r>
              <a:t>Assurer des transitions fluides, des temps de chargement rapides et une navigation intuitive.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Solutions Apportées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303520" cy="1828800"/>
          </a:xfrm>
          <a:prstGeom prst="roundRect">
            <a:avLst/>
          </a:prstGeom>
          <a:solidFill>
            <a:srgbClr val="F0FFF5"/>
          </a:solidFill>
          <a:ln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011680"/>
            <a:ext cx="640080" cy="64008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C759"/>
                </a:solidFill>
                <a:latin typeface="Calibri"/>
              </a:defRPr>
            </a:pPr>
            <a:r>
              <a:t>Variables CSS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3A"/>
                </a:solidFill>
                <a:latin typeface="Calibri"/>
              </a:defRPr>
            </a:pPr>
            <a:r>
              <a:t>Thèmes dynamiques clair/sombre, maintenance simplifiée, cohérence visuelle.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1828800"/>
          </a:xfrm>
          <a:prstGeom prst="roundRect">
            <a:avLst/>
          </a:prstGeom>
          <a:solidFill>
            <a:srgbClr val="F0FFF5"/>
          </a:solidFill>
          <a:ln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2011680"/>
            <a:ext cx="640080" cy="64008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057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C759"/>
                </a:solidFill>
                <a:latin typeface="Calibri"/>
              </a:defRPr>
            </a:pPr>
            <a:r>
              <a:t>Modularisation 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5176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3A"/>
                </a:solidFill>
                <a:latin typeface="Calibri"/>
              </a:defRPr>
            </a:pPr>
            <a:r>
              <a:t>Fonctions réutilisables, séparation des concerns, code maintenable et scalable.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5303520" cy="1828800"/>
          </a:xfrm>
          <a:prstGeom prst="roundRect">
            <a:avLst/>
          </a:prstGeom>
          <a:solidFill>
            <a:srgbClr val="F0FFF5"/>
          </a:solidFill>
          <a:ln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4114800"/>
            <a:ext cx="640080" cy="64008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160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114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C759"/>
                </a:solidFill>
                <a:latin typeface="Calibri"/>
              </a:defRPr>
            </a:pPr>
            <a:r>
              <a:t>Animations Légères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548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3A"/>
                </a:solidFill>
                <a:latin typeface="Calibri"/>
              </a:defRPr>
            </a:pPr>
            <a:r>
              <a:t>CSS transitions, keyframes, micro-interactions pour UX fluide sans surcharge.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31920"/>
            <a:ext cx="5303520" cy="1828800"/>
          </a:xfrm>
          <a:prstGeom prst="roundRect">
            <a:avLst/>
          </a:prstGeom>
          <a:solidFill>
            <a:srgbClr val="F0FFF5"/>
          </a:solidFill>
          <a:ln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0" y="4114800"/>
            <a:ext cx="640080" cy="64008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160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114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C759"/>
                </a:solidFill>
                <a:latin typeface="Calibri"/>
              </a:defRPr>
            </a:pPr>
            <a:r>
              <a:t>Optimisation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7548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3A"/>
                </a:solidFill>
                <a:latin typeface="Calibri"/>
              </a:defRPr>
            </a:pPr>
            <a:r>
              <a:t>Lazy loading, sélecteurs efficaces, minimisation des reflows/repaints DOM.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Démonstration du Projet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7315200" cy="4114800"/>
          </a:xfrm>
          <a:prstGeom prst="roundRect">
            <a:avLst/>
          </a:prstGeom>
          <a:solidFill>
            <a:srgbClr val="F5F5FA"/>
          </a:solidFill>
          <a:ln w="25400"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66680"/>
                </a:solidFill>
                <a:latin typeface="Calibri"/>
              </a:defRPr>
            </a:pPr>
            <a:r>
              <a:t>📸 Zone pour Captures d'Écran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80"/>
                </a:solidFill>
                <a:latin typeface="Calibri"/>
              </a:defRPr>
            </a:pPr>
            <a:r>
              <a:t>Insérez vos screenshots ici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474720" cy="4114800"/>
          </a:xfrm>
          <a:prstGeom prst="round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2011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🔗 Liens &amp; Ressources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6517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GitHub Repository</a:t>
            </a:r>
            <a:br/>
            <a:r>
              <a:t>github.com/votre-projet/eduai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4747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Prototype en Ligne</a:t>
            </a:r>
            <a:br/>
            <a:r>
              <a:t>eduai-demo.vercel.app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42976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Documentation</a:t>
            </a:r>
            <a:br/>
            <a:r>
              <a:t>eduai-docs.gitbook.io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5029200"/>
            <a:ext cx="2286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5760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80"/>
                </a:solidFill>
                <a:latin typeface="Calibri"/>
              </a:defRPr>
            </a:pPr>
            <a:r>
              <a:t>QR Code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Perspectives d'Amélioration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011680"/>
            <a:ext cx="640080" cy="640080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F77DD"/>
                </a:solidFill>
                <a:latin typeface="Calibri"/>
              </a:defRPr>
            </a:pPr>
            <a:r>
              <a:t>Vraie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3A"/>
                </a:solidFill>
                <a:latin typeface="Calibri"/>
              </a:defRPr>
            </a:pPr>
            <a:r>
              <a:t>Intégration API LLM (GPT, Claude) pour réponses contextuelles avancées.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8288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89120" y="2011680"/>
            <a:ext cx="640080" cy="640080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057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9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F77DD"/>
                </a:solidFill>
                <a:latin typeface="Calibri"/>
              </a:defRPr>
            </a:pPr>
            <a:r>
              <a:t>Authentification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6517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3A"/>
                </a:solidFill>
                <a:latin typeface="Calibri"/>
              </a:defRPr>
            </a:pPr>
            <a:r>
              <a:t>Système de login, profils utilisateurs, sécurité des données.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8288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38159" y="2011680"/>
            <a:ext cx="640080" cy="640080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2057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19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F77DD"/>
                </a:solidFill>
                <a:latin typeface="Calibri"/>
              </a:defRPr>
            </a:pPr>
            <a:r>
              <a:t>Sauvegarde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9" y="26517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3A"/>
                </a:solidFill>
                <a:latin typeface="Calibri"/>
              </a:defRPr>
            </a:pPr>
            <a:r>
              <a:t>Base de données, cloud storage, persistance des progrès et historiques.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" y="4114800"/>
            <a:ext cx="640080" cy="640080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160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F77DD"/>
                </a:solidFill>
                <a:latin typeface="Calibri"/>
              </a:defRPr>
            </a:pPr>
            <a:r>
              <a:t>Cours Vidéo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548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3A"/>
                </a:solidFill>
                <a:latin typeface="Calibri"/>
              </a:defRPr>
            </a:pPr>
            <a:r>
              <a:t>Intégration de contenus multimédias, vidéos interactives, streaming.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39319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89120" y="4114800"/>
            <a:ext cx="640080" cy="640080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4160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9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F77DD"/>
                </a:solidFill>
                <a:latin typeface="Calibri"/>
              </a:defRPr>
            </a:pPr>
            <a:r>
              <a:t>Multilingue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7548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3A"/>
                </a:solidFill>
                <a:latin typeface="Calibri"/>
              </a:defRPr>
            </a:pPr>
            <a:r>
              <a:t>Support de plusieurs langues pour accessibilité internationale.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79" y="39319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38159" y="4114800"/>
            <a:ext cx="640080" cy="640080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79" y="4160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19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F77DD"/>
                </a:solidFill>
                <a:latin typeface="Calibri"/>
              </a:defRPr>
            </a:pPr>
            <a:r>
              <a:t>Version Mobile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59" y="47548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3A"/>
                </a:solidFill>
                <a:latin typeface="Calibri"/>
              </a:defRPr>
            </a:pPr>
            <a:r>
              <a:t>Application native iOS/Android avec React Native ou Flutter.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Impact du Projet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303520" cy="1828800"/>
          </a:xfrm>
          <a:prstGeom prst="roundRect">
            <a:avLst/>
          </a:prstGeom>
          <a:solidFill>
            <a:srgbClr val="F5F5FA"/>
          </a:solidFill>
          <a:ln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011680"/>
            <a:ext cx="640080" cy="640080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F77DD"/>
                </a:solidFill>
                <a:latin typeface="Calibri"/>
              </a:defRPr>
            </a:pPr>
            <a:r>
              <a:t>Amélioration Apprentissage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3A"/>
                </a:solidFill>
                <a:latin typeface="Calibri"/>
              </a:defRPr>
            </a:pPr>
            <a:r>
              <a:t>Méthodes interactives augmentant la rétention et la compréhension des concepts.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1828800"/>
          </a:xfrm>
          <a:prstGeom prst="roundRect">
            <a:avLst/>
          </a:prstGeom>
          <a:solidFill>
            <a:srgbClr val="F5F5FA"/>
          </a:solidFill>
          <a:ln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2011680"/>
            <a:ext cx="640080" cy="640080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057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F77DD"/>
                </a:solidFill>
                <a:latin typeface="Calibri"/>
              </a:defRPr>
            </a:pPr>
            <a:r>
              <a:t>Motivation Étudiants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5176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3A"/>
                </a:solidFill>
                <a:latin typeface="Calibri"/>
              </a:defRPr>
            </a:pPr>
            <a:r>
              <a:t>Gamification et feedback instantané pour maintenir l'engagement et la motivation.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5303520" cy="1828800"/>
          </a:xfrm>
          <a:prstGeom prst="roundRect">
            <a:avLst/>
          </a:prstGeom>
          <a:solidFill>
            <a:srgbClr val="F5F5FA"/>
          </a:solidFill>
          <a:ln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4114800"/>
            <a:ext cx="640080" cy="640080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160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114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F77DD"/>
                </a:solidFill>
                <a:latin typeface="Calibri"/>
              </a:defRPr>
            </a:pPr>
            <a:r>
              <a:t>Accessibilité Éducative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548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3A"/>
                </a:solidFill>
                <a:latin typeface="Calibri"/>
              </a:defRPr>
            </a:pPr>
            <a:r>
              <a:t>Plateforme gratuite et accessible depuis n'importe quel appareil connecté.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31920"/>
            <a:ext cx="5303520" cy="1828800"/>
          </a:xfrm>
          <a:prstGeom prst="roundRect">
            <a:avLst/>
          </a:prstGeom>
          <a:solidFill>
            <a:srgbClr val="F5F5FA"/>
          </a:solidFill>
          <a:ln>
            <a:solidFill>
              <a:srgbClr val="B8B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0" y="4114800"/>
            <a:ext cx="640080" cy="640080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160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114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F77DD"/>
                </a:solidFill>
                <a:latin typeface="Calibri"/>
              </a:defRPr>
            </a:pPr>
            <a:r>
              <a:t>Apprentissage Intelligent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7548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3A"/>
                </a:solidFill>
                <a:latin typeface="Calibri"/>
              </a:defRPr>
            </a:pPr>
            <a:r>
              <a:t>Personnalisation grâce à l'IA pour adapter le contenu au niveau de chaque étudiant.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F77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B8B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4572000"/>
            <a:ext cx="3657600" cy="3657600"/>
          </a:xfrm>
          <a:prstGeom prst="ellipse">
            <a:avLst/>
          </a:prstGeom>
          <a:solidFill>
            <a:srgbClr val="5A5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-1828800"/>
            <a:ext cx="4572000" cy="4572000"/>
          </a:xfrm>
          <a:prstGeom prst="ellipse">
            <a:avLst/>
          </a:prstGeom>
          <a:solidFill>
            <a:srgbClr val="A09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8288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 Light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8B3F0"/>
                </a:solidFill>
                <a:latin typeface="Calibri"/>
              </a:defRPr>
            </a:pPr>
            <a:r>
              <a:t>EduAI représente une solution innovante alliant technologie et pédagogie</a:t>
            </a:r>
            <a:br/>
            <a:r>
              <a:t>pour transformer l'expérience d'apprentissage des étudiants.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3840480"/>
            <a:ext cx="2133295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Merci pour votre attention 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Des questions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6692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8B3F0"/>
                </a:solidFill>
                <a:latin typeface="Calibri"/>
              </a:defRPr>
            </a:pPr>
            <a:r>
              <a:t>contact@eduai-project.dev  |  github.com/eduai  |  eduai-demo.vercel.app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